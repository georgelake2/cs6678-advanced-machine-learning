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_rels/presentation.xml.rels" ContentType="application/vnd.openxmlformats-package.relationships+xml"/>
  <Override PartName="/ppt/media/image1.gif" ContentType="image/gif"/>
  <Override PartName="/ppt/media/image2.gif" ContentType="image/gif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</p:sldMasterIdLst>
  <p:sldIdLst>
    <p:sldId id="256" r:id="rId8"/>
    <p:sldId id="257" r:id="rId9"/>
    <p:sldId id="258" r:id="rId10"/>
    <p:sldId id="259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001960" y="365040"/>
            <a:ext cx="965304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001960" y="1825560"/>
            <a:ext cx="965304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001960" y="365040"/>
            <a:ext cx="965304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2001960" y="1825560"/>
            <a:ext cx="965304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001960" y="365040"/>
            <a:ext cx="965304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2001960" y="1825560"/>
            <a:ext cx="471060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948360" y="1825560"/>
            <a:ext cx="471060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001960" y="365040"/>
            <a:ext cx="965304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8;p1"/>
          <p:cNvSpPr/>
          <p:nvPr/>
        </p:nvSpPr>
        <p:spPr>
          <a:xfrm>
            <a:off x="0" y="0"/>
            <a:ext cx="1816560" cy="68670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Roboto"/>
              <a:ea typeface="Roboto"/>
            </a:endParaRPr>
          </a:p>
        </p:txBody>
      </p:sp>
      <p:pic>
        <p:nvPicPr>
          <p:cNvPr id="1" name="Google Shape;9;p1" descr=""/>
          <p:cNvPicPr/>
          <p:nvPr/>
        </p:nvPicPr>
        <p:blipFill>
          <a:blip r:embed="rId2"/>
          <a:stretch/>
        </p:blipFill>
        <p:spPr>
          <a:xfrm>
            <a:off x="255600" y="222840"/>
            <a:ext cx="1312920" cy="1974600"/>
          </a:xfrm>
          <a:prstGeom prst="rect">
            <a:avLst/>
          </a:prstGeom>
          <a:ln w="0">
            <a:noFill/>
          </a:ln>
        </p:spPr>
      </p:pic>
      <p:pic>
        <p:nvPicPr>
          <p:cNvPr id="2" name="Google Shape;10;p1" descr=""/>
          <p:cNvPicPr/>
          <p:nvPr/>
        </p:nvPicPr>
        <p:blipFill>
          <a:blip r:embed="rId3"/>
          <a:stretch/>
        </p:blipFill>
        <p:spPr>
          <a:xfrm>
            <a:off x="433080" y="6205320"/>
            <a:ext cx="950400" cy="428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001960" y="365040"/>
            <a:ext cx="965304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;p1"/>
          <p:cNvSpPr/>
          <p:nvPr/>
        </p:nvSpPr>
        <p:spPr>
          <a:xfrm>
            <a:off x="0" y="0"/>
            <a:ext cx="1816560" cy="68670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Roboto"/>
              <a:ea typeface="Roboto"/>
            </a:endParaRPr>
          </a:p>
        </p:txBody>
      </p:sp>
      <p:pic>
        <p:nvPicPr>
          <p:cNvPr id="8" name="Google Shape;9;p1" descr=""/>
          <p:cNvPicPr/>
          <p:nvPr/>
        </p:nvPicPr>
        <p:blipFill>
          <a:blip r:embed="rId2"/>
          <a:stretch/>
        </p:blipFill>
        <p:spPr>
          <a:xfrm>
            <a:off x="255600" y="222840"/>
            <a:ext cx="1312920" cy="1974600"/>
          </a:xfrm>
          <a:prstGeom prst="rect">
            <a:avLst/>
          </a:prstGeom>
          <a:ln w="0">
            <a:noFill/>
          </a:ln>
        </p:spPr>
      </p:pic>
      <p:pic>
        <p:nvPicPr>
          <p:cNvPr id="9" name="Google Shape;10;p1" descr=""/>
          <p:cNvPicPr/>
          <p:nvPr/>
        </p:nvPicPr>
        <p:blipFill>
          <a:blip r:embed="rId3"/>
          <a:stretch/>
        </p:blipFill>
        <p:spPr>
          <a:xfrm>
            <a:off x="433080" y="6205320"/>
            <a:ext cx="950400" cy="42876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001960" y="365040"/>
            <a:ext cx="965304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2001960" y="1825560"/>
            <a:ext cx="965304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8;p1"/>
          <p:cNvSpPr/>
          <p:nvPr/>
        </p:nvSpPr>
        <p:spPr>
          <a:xfrm>
            <a:off x="0" y="0"/>
            <a:ext cx="1816560" cy="68670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Roboto"/>
              <a:ea typeface="Roboto"/>
            </a:endParaRPr>
          </a:p>
        </p:txBody>
      </p:sp>
      <p:pic>
        <p:nvPicPr>
          <p:cNvPr id="15" name="Google Shape;9;p1" descr=""/>
          <p:cNvPicPr/>
          <p:nvPr/>
        </p:nvPicPr>
        <p:blipFill>
          <a:blip r:embed="rId2"/>
          <a:stretch/>
        </p:blipFill>
        <p:spPr>
          <a:xfrm>
            <a:off x="255600" y="222840"/>
            <a:ext cx="1312920" cy="1974600"/>
          </a:xfrm>
          <a:prstGeom prst="rect">
            <a:avLst/>
          </a:prstGeom>
          <a:ln w="0">
            <a:noFill/>
          </a:ln>
        </p:spPr>
      </p:pic>
      <p:pic>
        <p:nvPicPr>
          <p:cNvPr id="16" name="Google Shape;10;p1" descr=""/>
          <p:cNvPicPr/>
          <p:nvPr/>
        </p:nvPicPr>
        <p:blipFill>
          <a:blip r:embed="rId3"/>
          <a:stretch/>
        </p:blipFill>
        <p:spPr>
          <a:xfrm>
            <a:off x="433080" y="6205320"/>
            <a:ext cx="950400" cy="42876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001960" y="365040"/>
            <a:ext cx="965304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2001960" y="1825560"/>
            <a:ext cx="471024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948360" y="1825560"/>
            <a:ext cx="4710240" cy="48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8;p1"/>
          <p:cNvSpPr/>
          <p:nvPr/>
        </p:nvSpPr>
        <p:spPr>
          <a:xfrm>
            <a:off x="0" y="0"/>
            <a:ext cx="1816560" cy="68670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Roboto"/>
              <a:ea typeface="Roboto"/>
            </a:endParaRPr>
          </a:p>
        </p:txBody>
      </p:sp>
      <p:pic>
        <p:nvPicPr>
          <p:cNvPr id="24" name="Google Shape;9;p1" descr=""/>
          <p:cNvPicPr/>
          <p:nvPr/>
        </p:nvPicPr>
        <p:blipFill>
          <a:blip r:embed="rId2"/>
          <a:stretch/>
        </p:blipFill>
        <p:spPr>
          <a:xfrm>
            <a:off x="255600" y="222840"/>
            <a:ext cx="1312920" cy="1974600"/>
          </a:xfrm>
          <a:prstGeom prst="rect">
            <a:avLst/>
          </a:prstGeom>
          <a:ln w="0">
            <a:noFill/>
          </a:ln>
        </p:spPr>
      </p:pic>
      <p:pic>
        <p:nvPicPr>
          <p:cNvPr id="25" name="Google Shape;10;p1" descr=""/>
          <p:cNvPicPr/>
          <p:nvPr/>
        </p:nvPicPr>
        <p:blipFill>
          <a:blip r:embed="rId3"/>
          <a:stretch/>
        </p:blipFill>
        <p:spPr>
          <a:xfrm>
            <a:off x="433080" y="6205320"/>
            <a:ext cx="950400" cy="42876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001960" y="365040"/>
            <a:ext cx="965304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8;p1"/>
          <p:cNvSpPr/>
          <p:nvPr/>
        </p:nvSpPr>
        <p:spPr>
          <a:xfrm>
            <a:off x="0" y="0"/>
            <a:ext cx="1816560" cy="68670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Roboto"/>
              <a:ea typeface="Roboto"/>
            </a:endParaRPr>
          </a:p>
        </p:txBody>
      </p:sp>
      <p:pic>
        <p:nvPicPr>
          <p:cNvPr id="29" name="Google Shape;9;p1" descr=""/>
          <p:cNvPicPr/>
          <p:nvPr/>
        </p:nvPicPr>
        <p:blipFill>
          <a:blip r:embed="rId2"/>
          <a:stretch/>
        </p:blipFill>
        <p:spPr>
          <a:xfrm>
            <a:off x="255600" y="222840"/>
            <a:ext cx="1312920" cy="1974600"/>
          </a:xfrm>
          <a:prstGeom prst="rect">
            <a:avLst/>
          </a:prstGeom>
          <a:ln w="0">
            <a:noFill/>
          </a:ln>
        </p:spPr>
      </p:pic>
      <p:pic>
        <p:nvPicPr>
          <p:cNvPr id="30" name="Google Shape;10;p1" descr=""/>
          <p:cNvPicPr/>
          <p:nvPr/>
        </p:nvPicPr>
        <p:blipFill>
          <a:blip r:embed="rId3"/>
          <a:stretch/>
        </p:blipFill>
        <p:spPr>
          <a:xfrm>
            <a:off x="433080" y="6205320"/>
            <a:ext cx="950400" cy="4287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8;p1"/>
          <p:cNvSpPr/>
          <p:nvPr/>
        </p:nvSpPr>
        <p:spPr>
          <a:xfrm>
            <a:off x="0" y="0"/>
            <a:ext cx="1816560" cy="68670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Roboto"/>
              <a:ea typeface="Roboto"/>
            </a:endParaRPr>
          </a:p>
        </p:txBody>
      </p:sp>
      <p:pic>
        <p:nvPicPr>
          <p:cNvPr id="32" name="Google Shape;9;p1" descr=""/>
          <p:cNvPicPr/>
          <p:nvPr/>
        </p:nvPicPr>
        <p:blipFill>
          <a:blip r:embed="rId2"/>
          <a:stretch/>
        </p:blipFill>
        <p:spPr>
          <a:xfrm>
            <a:off x="255600" y="222840"/>
            <a:ext cx="1312920" cy="1974600"/>
          </a:xfrm>
          <a:prstGeom prst="rect">
            <a:avLst/>
          </a:prstGeom>
          <a:ln w="0">
            <a:noFill/>
          </a:ln>
        </p:spPr>
      </p:pic>
      <p:pic>
        <p:nvPicPr>
          <p:cNvPr id="33" name="Google Shape;10;p1" descr=""/>
          <p:cNvPicPr/>
          <p:nvPr/>
        </p:nvPicPr>
        <p:blipFill>
          <a:blip r:embed="rId3"/>
          <a:stretch/>
        </p:blipFill>
        <p:spPr>
          <a:xfrm>
            <a:off x="433080" y="6205320"/>
            <a:ext cx="950400" cy="4287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gif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itrust.sutd.edu.sg/itrust-labs_datasets/dataset_info/" TargetMode="External"/><Relationship Id="rId2" Type="http://schemas.openxmlformats.org/officeDocument/2006/relationships/hyperlink" Target="https://ieee-dataport.org/documents/te-process" TargetMode="External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073240" y="2020320"/>
            <a:ext cx="9596880" cy="112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5500" spc="-1" strike="noStrike">
                <a:solidFill>
                  <a:schemeClr val="dk1"/>
                </a:solidFill>
                <a:latin typeface="Roboto Slab"/>
                <a:ea typeface="Roboto Slab"/>
              </a:rPr>
              <a:t>Project Sketch</a:t>
            </a:r>
            <a:endParaRPr b="0" lang="en-US" sz="5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2042640" y="5502600"/>
            <a:ext cx="959688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111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Roboto"/>
                <a:ea typeface="Roboto"/>
              </a:rPr>
              <a:t>George Lake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6"/>
                </a:solidFill>
                <a:latin typeface="Roboto"/>
                <a:ea typeface="Roboto"/>
              </a:rPr>
              <a:t>Idaho State University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Google Shape;34;p8"/>
          <p:cNvSpPr/>
          <p:nvPr/>
        </p:nvSpPr>
        <p:spPr>
          <a:xfrm>
            <a:off x="0" y="0"/>
            <a:ext cx="1816560" cy="686700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Roboto"/>
              <a:ea typeface="Roboto"/>
            </a:endParaRPr>
          </a:p>
        </p:txBody>
      </p:sp>
      <p:pic>
        <p:nvPicPr>
          <p:cNvPr id="37" name="Google Shape;35;p8" descr=""/>
          <p:cNvPicPr/>
          <p:nvPr/>
        </p:nvPicPr>
        <p:blipFill>
          <a:blip r:embed="rId1"/>
          <a:stretch/>
        </p:blipFill>
        <p:spPr>
          <a:xfrm>
            <a:off x="255600" y="222840"/>
            <a:ext cx="1312920" cy="1974600"/>
          </a:xfrm>
          <a:prstGeom prst="rect">
            <a:avLst/>
          </a:prstGeom>
          <a:ln w="0">
            <a:noFill/>
          </a:ln>
        </p:spPr>
      </p:pic>
      <p:pic>
        <p:nvPicPr>
          <p:cNvPr id="38" name="Google Shape;36;p8" descr=""/>
          <p:cNvPicPr/>
          <p:nvPr/>
        </p:nvPicPr>
        <p:blipFill>
          <a:blip r:embed="rId2"/>
          <a:stretch/>
        </p:blipFill>
        <p:spPr>
          <a:xfrm>
            <a:off x="433080" y="6205320"/>
            <a:ext cx="950400" cy="428760"/>
          </a:xfrm>
          <a:prstGeom prst="rect">
            <a:avLst/>
          </a:prstGeom>
          <a:ln w="0">
            <a:noFill/>
          </a:ln>
        </p:spPr>
      </p:pic>
      <p:sp>
        <p:nvSpPr>
          <p:cNvPr id="39" name="TextBox 1"/>
          <p:cNvSpPr/>
          <p:nvPr/>
        </p:nvSpPr>
        <p:spPr>
          <a:xfrm>
            <a:off x="2073240" y="3274200"/>
            <a:ext cx="8926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Using ML to distinguish between process faults and malicious attacks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001960" y="365040"/>
            <a:ext cx="9653040" cy="13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1"/>
                </a:solidFill>
                <a:latin typeface="Roboto Slab"/>
                <a:ea typeface="Roboto Slab"/>
              </a:rPr>
              <a:t>Problem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922760" y="1600200"/>
            <a:ext cx="9735840" cy="351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Roboto"/>
                <a:ea typeface="Roboto"/>
              </a:rPr>
              <a:t>Domain: Industrial Cyber Security / Critical Infrastructure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Roboto"/>
                <a:ea typeface="Roboto"/>
              </a:rPr>
              <a:t>Distinguish between benign sensor failures and malicious cyber attacks.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Roboto"/>
                <a:ea typeface="Roboto"/>
              </a:rPr>
              <a:t>Current detection systems conflate the two.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001960" y="222840"/>
            <a:ext cx="965304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1"/>
                </a:solidFill>
                <a:latin typeface="Roboto Slab"/>
                <a:ea typeface="Roboto Slab"/>
              </a:rPr>
              <a:t>Data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057400" y="1547280"/>
            <a:ext cx="9601200" cy="390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2a6099"/>
                </a:solidFill>
                <a:latin typeface="Arial"/>
                <a:ea typeface="Roboto"/>
                <a:hlinkClick r:id="rId1"/>
              </a:rPr>
              <a:t>Itrust – Swat Dataset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Roboto"/>
              </a:rPr>
              <a:t>: Secure water treatment plant with cyber attacks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2a6099"/>
                </a:solidFill>
                <a:latin typeface="Arial"/>
                <a:ea typeface="Roboto"/>
                <a:hlinkClick r:id="rId2"/>
              </a:rPr>
              <a:t>Tennessee Eastman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Roboto"/>
              </a:rPr>
              <a:t>: Chemical manufacturing process with sensor failures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Roboto"/>
              </a:rPr>
              <a:t>Will need to modify either dataset to include both sensor failures and cyber attacks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001960" y="222840"/>
            <a:ext cx="965304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1"/>
                </a:solidFill>
                <a:latin typeface="Roboto Slab"/>
                <a:ea typeface="Roboto Slab"/>
              </a:rPr>
              <a:t>Risks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2"/>
          <p:cNvSpPr/>
          <p:nvPr/>
        </p:nvSpPr>
        <p:spPr>
          <a:xfrm>
            <a:off x="1828800" y="1539360"/>
            <a:ext cx="1018512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14480">
              <a:lnSpc>
                <a:spcPct val="100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ct val="100000"/>
              </a:lnSpc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ct val="100000"/>
              </a:lnSpc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ct val="100000"/>
              </a:lnSpc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ct val="100000"/>
              </a:lnSpc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 txBox="1"/>
          <p:nvPr/>
        </p:nvSpPr>
        <p:spPr>
          <a:xfrm>
            <a:off x="2001960" y="1825560"/>
            <a:ext cx="9653040" cy="4808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14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Roboto"/>
                <a:ea typeface="Roboto"/>
              </a:rPr>
              <a:t>Attacks that simulate equipment failure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Roboto"/>
                <a:ea typeface="Roboto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Idaho State">
      <a:dk1>
        <a:srgbClr val="000000"/>
      </a:dk1>
      <a:lt1>
        <a:srgbClr val="ffffff"/>
      </a:lt1>
      <a:dk2>
        <a:srgbClr val="828282"/>
      </a:dk2>
      <a:lt2>
        <a:srgbClr val="e6e7e8"/>
      </a:lt2>
      <a:accent1>
        <a:srgbClr val="f37920"/>
      </a:accent1>
      <a:accent2>
        <a:srgbClr val="a7a7a7"/>
      </a:accent2>
      <a:accent3>
        <a:srgbClr val="a7a7a7"/>
      </a:accent3>
      <a:accent4>
        <a:srgbClr val="ffffff"/>
      </a:accent4>
      <a:accent5>
        <a:srgbClr val="f69240"/>
      </a:accent5>
      <a:accent6>
        <a:srgbClr val="f37920"/>
      </a:accent6>
      <a:hlink>
        <a:srgbClr val="f37920"/>
      </a:hlink>
      <a:folHlink>
        <a:srgbClr val="82828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Idaho State">
      <a:dk1>
        <a:srgbClr val="000000"/>
      </a:dk1>
      <a:lt1>
        <a:srgbClr val="ffffff"/>
      </a:lt1>
      <a:dk2>
        <a:srgbClr val="828282"/>
      </a:dk2>
      <a:lt2>
        <a:srgbClr val="e6e7e8"/>
      </a:lt2>
      <a:accent1>
        <a:srgbClr val="f37920"/>
      </a:accent1>
      <a:accent2>
        <a:srgbClr val="a7a7a7"/>
      </a:accent2>
      <a:accent3>
        <a:srgbClr val="a7a7a7"/>
      </a:accent3>
      <a:accent4>
        <a:srgbClr val="ffffff"/>
      </a:accent4>
      <a:accent5>
        <a:srgbClr val="f69240"/>
      </a:accent5>
      <a:accent6>
        <a:srgbClr val="f37920"/>
      </a:accent6>
      <a:hlink>
        <a:srgbClr val="f37920"/>
      </a:hlink>
      <a:folHlink>
        <a:srgbClr val="82828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Idaho State">
      <a:dk1>
        <a:srgbClr val="000000"/>
      </a:dk1>
      <a:lt1>
        <a:srgbClr val="ffffff"/>
      </a:lt1>
      <a:dk2>
        <a:srgbClr val="828282"/>
      </a:dk2>
      <a:lt2>
        <a:srgbClr val="e6e7e8"/>
      </a:lt2>
      <a:accent1>
        <a:srgbClr val="f37920"/>
      </a:accent1>
      <a:accent2>
        <a:srgbClr val="a7a7a7"/>
      </a:accent2>
      <a:accent3>
        <a:srgbClr val="a7a7a7"/>
      </a:accent3>
      <a:accent4>
        <a:srgbClr val="ffffff"/>
      </a:accent4>
      <a:accent5>
        <a:srgbClr val="f69240"/>
      </a:accent5>
      <a:accent6>
        <a:srgbClr val="f37920"/>
      </a:accent6>
      <a:hlink>
        <a:srgbClr val="f37920"/>
      </a:hlink>
      <a:folHlink>
        <a:srgbClr val="82828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Idaho State">
      <a:dk1>
        <a:srgbClr val="000000"/>
      </a:dk1>
      <a:lt1>
        <a:srgbClr val="ffffff"/>
      </a:lt1>
      <a:dk2>
        <a:srgbClr val="828282"/>
      </a:dk2>
      <a:lt2>
        <a:srgbClr val="e6e7e8"/>
      </a:lt2>
      <a:accent1>
        <a:srgbClr val="f37920"/>
      </a:accent1>
      <a:accent2>
        <a:srgbClr val="a7a7a7"/>
      </a:accent2>
      <a:accent3>
        <a:srgbClr val="a7a7a7"/>
      </a:accent3>
      <a:accent4>
        <a:srgbClr val="ffffff"/>
      </a:accent4>
      <a:accent5>
        <a:srgbClr val="f69240"/>
      </a:accent5>
      <a:accent6>
        <a:srgbClr val="f37920"/>
      </a:accent6>
      <a:hlink>
        <a:srgbClr val="f37920"/>
      </a:hlink>
      <a:folHlink>
        <a:srgbClr val="82828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Idaho State">
      <a:dk1>
        <a:srgbClr val="000000"/>
      </a:dk1>
      <a:lt1>
        <a:srgbClr val="ffffff"/>
      </a:lt1>
      <a:dk2>
        <a:srgbClr val="828282"/>
      </a:dk2>
      <a:lt2>
        <a:srgbClr val="e6e7e8"/>
      </a:lt2>
      <a:accent1>
        <a:srgbClr val="f37920"/>
      </a:accent1>
      <a:accent2>
        <a:srgbClr val="a7a7a7"/>
      </a:accent2>
      <a:accent3>
        <a:srgbClr val="a7a7a7"/>
      </a:accent3>
      <a:accent4>
        <a:srgbClr val="ffffff"/>
      </a:accent4>
      <a:accent5>
        <a:srgbClr val="f69240"/>
      </a:accent5>
      <a:accent6>
        <a:srgbClr val="f37920"/>
      </a:accent6>
      <a:hlink>
        <a:srgbClr val="f37920"/>
      </a:hlink>
      <a:folHlink>
        <a:srgbClr val="82828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Idaho State">
      <a:dk1>
        <a:srgbClr val="000000"/>
      </a:dk1>
      <a:lt1>
        <a:srgbClr val="ffffff"/>
      </a:lt1>
      <a:dk2>
        <a:srgbClr val="828282"/>
      </a:dk2>
      <a:lt2>
        <a:srgbClr val="e6e7e8"/>
      </a:lt2>
      <a:accent1>
        <a:srgbClr val="f37920"/>
      </a:accent1>
      <a:accent2>
        <a:srgbClr val="a7a7a7"/>
      </a:accent2>
      <a:accent3>
        <a:srgbClr val="a7a7a7"/>
      </a:accent3>
      <a:accent4>
        <a:srgbClr val="ffffff"/>
      </a:accent4>
      <a:accent5>
        <a:srgbClr val="f69240"/>
      </a:accent5>
      <a:accent6>
        <a:srgbClr val="f37920"/>
      </a:accent6>
      <a:hlink>
        <a:srgbClr val="f37920"/>
      </a:hlink>
      <a:folHlink>
        <a:srgbClr val="82828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Application>LibreOffice/24.2.7.2$Linux_X86_64 LibreOffice_project/420$Build-2</Application>
  <AppVersion>15.0000</AppVersion>
  <Words>472</Words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George Lake</dc:creator>
  <dc:description/>
  <dc:language>en-US</dc:language>
  <cp:lastModifiedBy/>
  <dcterms:modified xsi:type="dcterms:W3CDTF">2026-01-27T10:30:12Z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